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4" r:id="rId6"/>
    <p:sldId id="265" r:id="rId7"/>
    <p:sldId id="260" r:id="rId8"/>
    <p:sldId id="268" r:id="rId9"/>
    <p:sldId id="266" r:id="rId10"/>
    <p:sldId id="267" r:id="rId11"/>
    <p:sldId id="269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F8E0-18A2-279B-C017-9F9C646D6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AD04F-2880-A6C3-496A-4125A3CD5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B671E-9897-4250-103D-80E6771C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8BB5-A222-4B64-5204-B366EAFB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4CA92-49B1-841D-CCB5-A737B707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A472-4059-8B7D-F387-59542A0D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4123-5C37-F4B6-97F7-09B33F6A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7517-4ABD-C2C0-C034-DADEB37B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7982-9E4D-D069-8B8C-2FFE5FCD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7915-D129-B032-797D-8355AE69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8E10-1E7C-C03D-F846-9FC28748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A963F-B055-85C3-F7A4-1DCBEF755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8244-751C-D7A4-538F-A22B72F3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27BA-4E56-5BF1-FBC3-52B216AB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7176B-985D-B429-53D4-7AA102A3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0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165D-0D22-1A24-15CB-1C2DA196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9A998-33B7-4A6B-FA40-0713C6D53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4FA4A-D328-A81D-931A-796D2103A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2C8D9-D774-0AB5-9F39-855D10FE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8014-F589-0D3B-21EB-C183C5BE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DF46B-E973-C7E7-C6E6-3E2F1FCC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3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8BA7-55F9-57AA-979F-2D10DA35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A61D8-014E-4F37-5F3F-C5D179F27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A4AB3-0C80-DEE3-F843-6C98B0F2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6F06F-092E-6129-31D0-0499234DD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4B85F-D222-6931-E43E-D1E8917B0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E1835-1009-F545-5FC6-949A2719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5FF19-48C7-7684-87D4-3ACAC54F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509DA-8619-25C7-5542-ED71E244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1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D979-93DE-99F2-8873-7E909830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D16BC-8172-FC7D-DCA3-D7BE6691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1AFDA-972D-FBB3-3704-EE01274F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803E5-6994-0857-A03C-3A05D64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0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4B5F1-1CAB-4CBD-0C17-508F6BF1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20F79-0E4A-E399-D316-5550EDC2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A56E3-99D9-B73E-9654-F6D51FC3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2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2FD0-B33C-4334-CC67-12D43FB5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5DBD-3A4A-82BA-C03A-E5D3D1E29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8AB55-D372-05CE-F47E-264B01CC7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480C0-71B7-258C-D2C1-4549D474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11712-4E42-7D07-5A42-877D1FC3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B3D90-11DB-05DD-3407-46CB5CD8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7ABB-E110-FBAE-1379-94B60033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BC262A-53DF-16D1-5022-649F4C1EC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DBDDE-CC1B-8A6F-3EAD-F757ADD89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1932-97C6-E2DB-9A38-3C105776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E7D24-0691-C6B1-B943-1162B45F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D4D0A-F625-1A3D-E217-DA9E86BB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B9AE-5C6D-87C0-23CE-36DD611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F6873-470D-6E66-9396-A4062E58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4E1E3-82EB-914F-818B-AEA3A26F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4CB77-5AFD-C813-5045-ED18C7F8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6A076-4DE7-8231-C949-D549B37A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3C4D0-EB9C-E475-FCEC-DA466D079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F0C2B-FC2C-C01C-20E1-D36D3AB7F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FECFA-4E39-EA58-42C0-A3E458D0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D136D-E91F-E5A1-DF88-4324614D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DC7F-B5C7-E44E-AE9F-6F1829A8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8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49444-DC3E-E808-2EB7-54DA602F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A48D-8383-6200-5051-744E224DC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EDEB-7998-8661-E744-38BAA7A2E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6139C-A1F9-4229-B452-C0C8E55ADF8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BC2C8-0F06-17E4-7FEE-844C3E7C5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B6A3C-5786-3C73-9588-802A1D398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92F5F-E7BC-474D-AA76-FFB31EF0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1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F51785-B722-E1AA-1CAB-F1F9BD520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0409" y="-1842051"/>
            <a:ext cx="6003366" cy="106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1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CB1EE-2ACE-348B-AD95-4DA9B107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5CF66E-155B-A942-0504-3C6E52310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0409" y="-1842051"/>
            <a:ext cx="6003366" cy="1066800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8B7AA80-ACE1-2F4F-C974-E504B642E9FD}"/>
              </a:ext>
            </a:extLst>
          </p:cNvPr>
          <p:cNvSpPr/>
          <p:nvPr/>
        </p:nvSpPr>
        <p:spPr>
          <a:xfrm>
            <a:off x="5928852" y="1494503"/>
            <a:ext cx="1297858" cy="108154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7C451E-9DD1-F742-E7F9-AA8D0722563C}"/>
              </a:ext>
            </a:extLst>
          </p:cNvPr>
          <p:cNvSpPr/>
          <p:nvPr/>
        </p:nvSpPr>
        <p:spPr>
          <a:xfrm>
            <a:off x="4188542" y="2851355"/>
            <a:ext cx="776748" cy="10422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37549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124C-0B83-6A3E-2B00-299B5128C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5"/>
            <a:ext cx="10515600" cy="1306357"/>
          </a:xfrm>
        </p:spPr>
        <p:txBody>
          <a:bodyPr>
            <a:normAutofit/>
          </a:bodyPr>
          <a:lstStyle/>
          <a:p>
            <a:pPr algn="ctr"/>
            <a:r>
              <a:rPr lang="es-CO" b="1" noProof="0" dirty="0"/>
              <a:t>ECG sin filtros externos</a:t>
            </a:r>
            <a:br>
              <a:rPr lang="es-CO" noProof="0" dirty="0"/>
            </a:br>
            <a:r>
              <a:rPr lang="es-CO" noProof="0" dirty="0"/>
              <a:t> </a:t>
            </a:r>
            <a:r>
              <a:rPr lang="es-CO" sz="3600" noProof="0" dirty="0"/>
              <a:t>(centrado a la media)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93BF9-676D-6913-8879-37CC2755D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21" y="1455173"/>
            <a:ext cx="9601158" cy="49757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96EA08-AB24-B3CF-3611-7A2F19251EB3}"/>
              </a:ext>
            </a:extLst>
          </p:cNvPr>
          <p:cNvSpPr txBox="1"/>
          <p:nvPr/>
        </p:nvSpPr>
        <p:spPr>
          <a:xfrm>
            <a:off x="9096292" y="5669281"/>
            <a:ext cx="129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>
                <a:solidFill>
                  <a:schemeClr val="bg1"/>
                </a:solidFill>
              </a:rPr>
              <a:t>Derivación I</a:t>
            </a:r>
          </a:p>
        </p:txBody>
      </p:sp>
    </p:spTree>
    <p:extLst>
      <p:ext uri="{BB962C8B-B14F-4D97-AF65-F5344CB8AC3E}">
        <p14:creationId xmlns:p14="http://schemas.microsoft.com/office/powerpoint/2010/main" val="307890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01D6-193F-FDB7-83A5-54393AA4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9"/>
            <a:ext cx="10515600" cy="1512834"/>
          </a:xfrm>
        </p:spPr>
        <p:txBody>
          <a:bodyPr/>
          <a:lstStyle/>
          <a:p>
            <a:pPr algn="ctr"/>
            <a:r>
              <a:rPr lang="es-CO" b="1" noProof="0" dirty="0"/>
              <a:t>Sin filtros de software</a:t>
            </a:r>
            <a:br>
              <a:rPr lang="es-CO" noProof="0" dirty="0"/>
            </a:br>
            <a:r>
              <a:rPr lang="es-CO" sz="3600" noProof="0" dirty="0"/>
              <a:t>(centrado a la media)</a:t>
            </a:r>
            <a:r>
              <a:rPr lang="es-CO" noProof="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D9CC2-C72C-77BB-E95C-FD0C1B9AE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" y="1632153"/>
            <a:ext cx="10515600" cy="4790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4C25E-A21E-8EBF-8BFD-29099E9F430C}"/>
              </a:ext>
            </a:extLst>
          </p:cNvPr>
          <p:cNvSpPr txBox="1"/>
          <p:nvPr/>
        </p:nvSpPr>
        <p:spPr>
          <a:xfrm>
            <a:off x="9422296" y="5836258"/>
            <a:ext cx="129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>
                <a:solidFill>
                  <a:schemeClr val="bg1"/>
                </a:solidFill>
              </a:rPr>
              <a:t>Derivación I</a:t>
            </a:r>
          </a:p>
        </p:txBody>
      </p:sp>
    </p:spTree>
    <p:extLst>
      <p:ext uri="{BB962C8B-B14F-4D97-AF65-F5344CB8AC3E}">
        <p14:creationId xmlns:p14="http://schemas.microsoft.com/office/powerpoint/2010/main" val="350881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5044-1BCC-C400-AE93-4FE80295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7915"/>
          </a:xfrm>
        </p:spPr>
        <p:txBody>
          <a:bodyPr/>
          <a:lstStyle/>
          <a:p>
            <a:pPr algn="ctr"/>
            <a:r>
              <a:rPr lang="es-CO" noProof="0" dirty="0"/>
              <a:t> ECG </a:t>
            </a:r>
            <a:r>
              <a:rPr lang="es-CO" noProof="0" dirty="0" err="1"/>
              <a:t>front-end</a:t>
            </a:r>
            <a:r>
              <a:rPr lang="es-CO" noProof="0" dirty="0"/>
              <a:t> (AD8232)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ED8D2A-24ED-8182-B0C9-1FF822C632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80162" y="907001"/>
            <a:ext cx="3460954" cy="615012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54645-3566-DA70-86B2-8C3DF79E0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1574" y="1767861"/>
            <a:ext cx="4412226" cy="4171763"/>
          </a:xfrm>
        </p:spPr>
        <p:txBody>
          <a:bodyPr/>
          <a:lstStyle/>
          <a:p>
            <a:r>
              <a:rPr lang="es-CO" noProof="0" dirty="0"/>
              <a:t>Amplificador de instrumentación 1:1000</a:t>
            </a:r>
          </a:p>
          <a:p>
            <a:pPr marL="0" indent="0">
              <a:buNone/>
            </a:pPr>
            <a:endParaRPr lang="es-CO" noProof="0" dirty="0"/>
          </a:p>
          <a:p>
            <a:r>
              <a:rPr lang="es-CO" noProof="0" dirty="0"/>
              <a:t>Filtro de modo común</a:t>
            </a:r>
          </a:p>
          <a:p>
            <a:pPr marL="0" indent="0">
              <a:buNone/>
            </a:pPr>
            <a:endParaRPr lang="es-CO" noProof="0" dirty="0"/>
          </a:p>
          <a:p>
            <a:r>
              <a:rPr lang="es-CO" noProof="0" dirty="0"/>
              <a:t>Filtro </a:t>
            </a:r>
            <a:r>
              <a:rPr lang="es-CO" noProof="0" dirty="0" err="1"/>
              <a:t>pasabanda</a:t>
            </a:r>
            <a:r>
              <a:rPr lang="es-CO" noProof="0" dirty="0"/>
              <a:t> (0,5-50Hz)</a:t>
            </a:r>
          </a:p>
          <a:p>
            <a:endParaRPr lang="es-CO" noProof="0" dirty="0"/>
          </a:p>
          <a:p>
            <a:r>
              <a:rPr lang="es-CO" noProof="0" dirty="0"/>
              <a:t>Salida analógica (0-3.3V)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10E27C-0673-0986-98C6-B201CBC2B497}"/>
              </a:ext>
            </a:extLst>
          </p:cNvPr>
          <p:cNvSpPr/>
          <p:nvPr/>
        </p:nvSpPr>
        <p:spPr>
          <a:xfrm>
            <a:off x="2965837" y="3315694"/>
            <a:ext cx="1399429" cy="1200647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253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9D9F-3AEC-02E2-523E-C457700A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84D0-664D-5492-16E8-E510F2C67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7915"/>
          </a:xfrm>
        </p:spPr>
        <p:txBody>
          <a:bodyPr/>
          <a:lstStyle/>
          <a:p>
            <a:pPr algn="ctr"/>
            <a:r>
              <a:rPr lang="es-CO" noProof="0" dirty="0"/>
              <a:t>Arduino Nano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786104-0380-02BE-5869-1AC142C693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11967" y="469680"/>
            <a:ext cx="3460954" cy="615012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DF4DE-7CD5-5D22-2DD1-87D811406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6990" y="1814266"/>
            <a:ext cx="4412226" cy="3376633"/>
          </a:xfrm>
        </p:spPr>
        <p:txBody>
          <a:bodyPr>
            <a:normAutofit/>
          </a:bodyPr>
          <a:lstStyle/>
          <a:p>
            <a:r>
              <a:rPr lang="es-CO" sz="2400" noProof="0" dirty="0"/>
              <a:t>Placa de desarrollo programable</a:t>
            </a:r>
          </a:p>
          <a:p>
            <a:r>
              <a:rPr lang="es-CO" sz="2400" noProof="0" dirty="0"/>
              <a:t>Convertidor analógico-digital</a:t>
            </a:r>
          </a:p>
          <a:p>
            <a:r>
              <a:rPr lang="es-CO" sz="2400" noProof="0" dirty="0"/>
              <a:t>Interfaz serial con PC (USB) </a:t>
            </a:r>
          </a:p>
          <a:p>
            <a:r>
              <a:rPr lang="es-CO" sz="2400" noProof="0" dirty="0"/>
              <a:t>Envía los voltajes analógicos de 0-3,3v de salida del AD8232, al PC 360 veces por segundo como un entero positivo entre 0-1023 (10 bits)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B7424C-ED27-BCBC-EEB3-C5326D040019}"/>
              </a:ext>
            </a:extLst>
          </p:cNvPr>
          <p:cNvSpPr/>
          <p:nvPr/>
        </p:nvSpPr>
        <p:spPr>
          <a:xfrm>
            <a:off x="1407381" y="2902225"/>
            <a:ext cx="1709529" cy="811033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44824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AEADB-D37E-0675-61DA-39D7BDB7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D0435E-A59B-B671-C09B-15D908C93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0409" y="-1842051"/>
            <a:ext cx="6003366" cy="1066800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C6BE06C-DDE6-EFC9-6A63-D2634BD142CB}"/>
              </a:ext>
            </a:extLst>
          </p:cNvPr>
          <p:cNvSpPr/>
          <p:nvPr/>
        </p:nvSpPr>
        <p:spPr>
          <a:xfrm>
            <a:off x="6096000" y="2973788"/>
            <a:ext cx="1060174" cy="2417196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0954F9-8FD5-9A89-DA77-E8F77747C79E}"/>
              </a:ext>
            </a:extLst>
          </p:cNvPr>
          <p:cNvSpPr/>
          <p:nvPr/>
        </p:nvSpPr>
        <p:spPr>
          <a:xfrm>
            <a:off x="7521934" y="1749287"/>
            <a:ext cx="3538330" cy="3641697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176232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E571-06FB-4E50-B99E-CF7C0A35D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765"/>
          </a:xfrm>
        </p:spPr>
        <p:txBody>
          <a:bodyPr/>
          <a:lstStyle/>
          <a:p>
            <a:r>
              <a:rPr lang="es-CO" noProof="0" dirty="0"/>
              <a:t>Procesamiento en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38DA-A76F-A401-4511-47BE72896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550"/>
            <a:ext cx="10515600" cy="496041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recibe la señal por el puerto serie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realiza un filtro digital pasa-altas con corte en 0.5Hz (elimina ruido muscular y reparación)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realiza un filtro digital pasa-bajas con corte en 50Hz (elimina ruido AC y radiofrecuencias)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normaliza a la media (centra los valores en el promedio acumulado de las medidas)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analiza la onda para encontrar picos y calcular FC e intervalos.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Se grafican los valores digitales (voltajes instantáneos) en el tiempo como una línea continua (simulando la lectura analógica).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OPCIONAL: Se imprime la señal en una cuadricula estandarizada, se indica la FC e intervalos; y se guarda como PDF.</a:t>
            </a:r>
          </a:p>
        </p:txBody>
      </p:sp>
    </p:spTree>
    <p:extLst>
      <p:ext uri="{BB962C8B-B14F-4D97-AF65-F5344CB8AC3E}">
        <p14:creationId xmlns:p14="http://schemas.microsoft.com/office/powerpoint/2010/main" val="389048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FED1-FB82-9211-EC0F-FF473214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735"/>
            <a:ext cx="10515600" cy="699714"/>
          </a:xfrm>
        </p:spPr>
        <p:txBody>
          <a:bodyPr>
            <a:normAutofit/>
          </a:bodyPr>
          <a:lstStyle/>
          <a:p>
            <a:pPr algn="ctr"/>
            <a:r>
              <a:rPr lang="es-CO" sz="3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Posición electrodos para derivación I (ECG 3E)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3F4D70-E9A8-C3A0-3B8B-4CA705F63D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7319" y="1256306"/>
            <a:ext cx="4297519" cy="492125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0D752-DD61-B0D5-EBA0-A5065F6C4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6306"/>
            <a:ext cx="5181600" cy="4920657"/>
          </a:xfrm>
        </p:spPr>
        <p:txBody>
          <a:bodyPr>
            <a:normAutofit fontScale="92500" lnSpcReduction="10000"/>
          </a:bodyPr>
          <a:lstStyle/>
          <a:p>
            <a:r>
              <a:rPr lang="es-CO" noProof="0" dirty="0"/>
              <a:t>Verde: </a:t>
            </a:r>
            <a:r>
              <a:rPr lang="es-CO" noProof="0" dirty="0" err="1"/>
              <a:t>Equipotencialización</a:t>
            </a:r>
            <a:r>
              <a:rPr lang="es-CO" noProof="0" dirty="0"/>
              <a:t> y modo común.</a:t>
            </a:r>
          </a:p>
          <a:p>
            <a:r>
              <a:rPr lang="es-CO" noProof="0" dirty="0"/>
              <a:t>Rojo: Electrodo (-)</a:t>
            </a:r>
          </a:p>
          <a:p>
            <a:r>
              <a:rPr lang="es-CO" noProof="0" dirty="0"/>
              <a:t>Amarillo: Electrodo (+)</a:t>
            </a:r>
          </a:p>
          <a:p>
            <a:endParaRPr lang="es-CO" noProof="0" dirty="0"/>
          </a:p>
          <a:p>
            <a:r>
              <a:rPr lang="es-CO" noProof="0" dirty="0"/>
              <a:t>Para la demostración usamos la derivación II (ECG 3E)</a:t>
            </a:r>
          </a:p>
          <a:p>
            <a:endParaRPr lang="es-CO" noProof="0" dirty="0"/>
          </a:p>
          <a:p>
            <a:pPr marL="0" indent="0" algn="just">
              <a:buNone/>
            </a:pPr>
            <a:r>
              <a:rPr lang="es-CO" noProof="0" dirty="0"/>
              <a:t>EL CIRCUITO TIENE COMO SALIDA LA DIFERENCIA DE VOLTAJES ENTRE LOS ELECTRODOS ROJO Y AMARILLO, DESPUES DE AMPLIFICADA.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002B66-0E5E-A750-6D69-9D640E836EA8}"/>
              </a:ext>
            </a:extLst>
          </p:cNvPr>
          <p:cNvSpPr/>
          <p:nvPr/>
        </p:nvSpPr>
        <p:spPr>
          <a:xfrm>
            <a:off x="4198289" y="4345387"/>
            <a:ext cx="198782" cy="22661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369973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8494-4098-5261-5AE8-843C2ED6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62"/>
            <a:ext cx="10515600" cy="978010"/>
          </a:xfrm>
        </p:spPr>
        <p:txBody>
          <a:bodyPr>
            <a:normAutofit/>
          </a:bodyPr>
          <a:lstStyle/>
          <a:p>
            <a:pPr algn="ctr"/>
            <a:r>
              <a:rPr lang="es-CO" noProof="0" dirty="0"/>
              <a:t>Salida derivación II con todos los filtros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DD8BA-9FAC-A128-CA19-FD854FF4E022}"/>
              </a:ext>
            </a:extLst>
          </p:cNvPr>
          <p:cNvSpPr txBox="1"/>
          <p:nvPr/>
        </p:nvSpPr>
        <p:spPr>
          <a:xfrm>
            <a:off x="9406394" y="5041128"/>
            <a:ext cx="134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>
                <a:solidFill>
                  <a:schemeClr val="bg1"/>
                </a:solidFill>
              </a:rPr>
              <a:t>Derivación II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69EA8C2-F6D0-6501-30DB-78C36BB83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57" y="1049572"/>
            <a:ext cx="10273085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6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0A78-25D0-793F-5B3D-9FE30CE8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1650-FDBB-73AD-16E0-DEB06E04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62"/>
            <a:ext cx="10515600" cy="978010"/>
          </a:xfrm>
        </p:spPr>
        <p:txBody>
          <a:bodyPr>
            <a:normAutofit/>
          </a:bodyPr>
          <a:lstStyle/>
          <a:p>
            <a:pPr algn="ctr"/>
            <a:r>
              <a:rPr lang="es-CO" noProof="0" dirty="0"/>
              <a:t>Salida derivación II en cuadricula </a:t>
            </a:r>
            <a:r>
              <a:rPr lang="es-CO" noProof="0" dirty="0" err="1"/>
              <a:t>estandar</a:t>
            </a:r>
            <a:endParaRPr lang="es-CO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024C1-3BDE-5CFF-9D70-43DA82E03331}"/>
              </a:ext>
            </a:extLst>
          </p:cNvPr>
          <p:cNvSpPr txBox="1"/>
          <p:nvPr/>
        </p:nvSpPr>
        <p:spPr>
          <a:xfrm>
            <a:off x="9406394" y="5041128"/>
            <a:ext cx="134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>
                <a:solidFill>
                  <a:schemeClr val="bg1"/>
                </a:solidFill>
              </a:rPr>
              <a:t>Derivación II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E87A73-2A66-A1DB-0713-477E3942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1"/>
          <a:stretch>
            <a:fillRect/>
          </a:stretch>
        </p:blipFill>
        <p:spPr>
          <a:xfrm>
            <a:off x="838200" y="1703406"/>
            <a:ext cx="10515600" cy="268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48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8A59-1799-4EF2-EC78-F62ACB0C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A098B9-CEBC-171B-F20F-0AEF4E163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0409" y="-1842051"/>
            <a:ext cx="6003366" cy="106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1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F5D7-ACD6-AC96-7F3F-8B9CAB24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206" y="472506"/>
            <a:ext cx="4698124" cy="1600309"/>
          </a:xfrm>
        </p:spPr>
        <p:txBody>
          <a:bodyPr>
            <a:normAutofit/>
          </a:bodyPr>
          <a:lstStyle/>
          <a:p>
            <a:pPr algn="ctr"/>
            <a:r>
              <a:rPr lang="es-CO" sz="4000" noProof="0" dirty="0"/>
              <a:t>La importancia electrocardiograma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C2D2EC-5FA4-8F17-1855-2F7E38507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6" y="309530"/>
            <a:ext cx="5916996" cy="1845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F1B40-E911-A653-4170-C8BB2EB1A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6" y="2669072"/>
            <a:ext cx="5916996" cy="1519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C0DD3-FE81-F9EB-CAF5-B4BEF18E7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6" y="4530529"/>
            <a:ext cx="5916996" cy="19623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B00E98-6ACF-341A-55A3-DEE19C2F5C48}"/>
              </a:ext>
            </a:extLst>
          </p:cNvPr>
          <p:cNvSpPr txBox="1"/>
          <p:nvPr/>
        </p:nvSpPr>
        <p:spPr>
          <a:xfrm>
            <a:off x="3500272" y="1725257"/>
            <a:ext cx="319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noProof="0" dirty="0"/>
              <a:t>ECG Normal: ritmo sinusal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AA296-457A-628E-1158-4A57A19C8C73}"/>
              </a:ext>
            </a:extLst>
          </p:cNvPr>
          <p:cNvSpPr txBox="1"/>
          <p:nvPr/>
        </p:nvSpPr>
        <p:spPr>
          <a:xfrm>
            <a:off x="3268717" y="3674907"/>
            <a:ext cx="319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noProof="0" dirty="0"/>
              <a:t>Taquicardia Supraventricular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A2FA3-E389-DDC1-9607-C95F677F55D0}"/>
              </a:ext>
            </a:extLst>
          </p:cNvPr>
          <p:cNvSpPr txBox="1"/>
          <p:nvPr/>
        </p:nvSpPr>
        <p:spPr>
          <a:xfrm>
            <a:off x="3363310" y="5884778"/>
            <a:ext cx="319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noProof="0" dirty="0" err="1"/>
              <a:t>Torsades</a:t>
            </a:r>
            <a:r>
              <a:rPr lang="es-CO" sz="2000" b="1" noProof="0" dirty="0"/>
              <a:t> de Pontes (V-tac)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234C8-578E-8D0D-5C39-8DA0858D7973}"/>
              </a:ext>
            </a:extLst>
          </p:cNvPr>
          <p:cNvSpPr txBox="1"/>
          <p:nvPr/>
        </p:nvSpPr>
        <p:spPr>
          <a:xfrm>
            <a:off x="6947010" y="2637703"/>
            <a:ext cx="46143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noProof="0" dirty="0"/>
              <a:t>Estos 2 ritmos  tienen los mismos síntomas (cuando el paciente esta consiente).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noProof="0" dirty="0"/>
              <a:t>La taquicardia supraventricular es una urgencia medica normalmente benigna.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noProof="0" dirty="0" err="1"/>
              <a:t>Torsades</a:t>
            </a:r>
            <a:r>
              <a:rPr lang="es-CO" sz="2400" noProof="0" dirty="0"/>
              <a:t> de Points es un ritmo mortal en cuestión de minutos.</a:t>
            </a:r>
          </a:p>
        </p:txBody>
      </p:sp>
    </p:spTree>
    <p:extLst>
      <p:ext uri="{BB962C8B-B14F-4D97-AF65-F5344CB8AC3E}">
        <p14:creationId xmlns:p14="http://schemas.microsoft.com/office/powerpoint/2010/main" val="2381387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338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ECG sin filtros externos  (centrado a la media)</vt:lpstr>
      <vt:lpstr>Sin filtros de software (centrado a la media) </vt:lpstr>
      <vt:lpstr> ECG front-end (AD8232)</vt:lpstr>
      <vt:lpstr>Arduino Nano</vt:lpstr>
      <vt:lpstr>PowerPoint Presentation</vt:lpstr>
      <vt:lpstr>Procesamiento en software</vt:lpstr>
      <vt:lpstr>Posición electrodos para derivación I (ECG 3E)</vt:lpstr>
      <vt:lpstr>Salida derivación II con todos los filtros</vt:lpstr>
      <vt:lpstr>Salida derivación II en cuadricula estandar</vt:lpstr>
      <vt:lpstr>PowerPoint Presentation</vt:lpstr>
      <vt:lpstr>La importancia electrocardiograma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miller</dc:creator>
  <cp:lastModifiedBy>ian miller</cp:lastModifiedBy>
  <cp:revision>3</cp:revision>
  <dcterms:created xsi:type="dcterms:W3CDTF">2026-05-04T15:26:51Z</dcterms:created>
  <dcterms:modified xsi:type="dcterms:W3CDTF">2026-05-20T00:50:45Z</dcterms:modified>
</cp:coreProperties>
</file>